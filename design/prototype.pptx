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695" cy="6858000"/>
  <p:notesSz cx="6858000" cy="9144000"/>
  <p:defaultTextStyle>
    <a:defPPr>
      <a:defRPr lang="en-GB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theme" Target="theme/theme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600">
          <a:solidFill>
            <a:schemeClr val="tx1"/>
          </a:solidFill>
          <a:latin typeface="+mj-lt"/>
        </a:defRPr>
      </a:lvl1pPr>
    </p:titleStyle>
    <p:bodyStyle>
      <a:lvl1pPr>
        <a:defRPr sz="1600">
          <a:solidFill>
            <a:schemeClr val="tx1"/>
          </a:solidFill>
          <a:latin typeface="+mn-lt"/>
        </a:defRPr>
      </a:lvl1pPr>
    </p:bodyStyle>
    <p:otherStyle>
      <a:lvl1pPr>
        <a:defRPr sz="16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mark 3"/>
          <p:cNvSpPr/>
          <p:nvPr/>
        </p:nvSpPr>
        <p:spPr>
          <a:xfrm>
            <a:off x="731520" y="73152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Logo letter 4"/>
          <p:cNvSpPr txBox="1"/>
          <p:nvPr/>
        </p:nvSpPr>
        <p:spPr>
          <a:xfrm>
            <a:off x="731520" y="7315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2890" b="1" dirty="0">
                <a:solidFill>
                  <a:srgbClr val="02163F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731520" y="2148840"/>
            <a:ext cx="6035040" cy="17373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4000" b="1" dirty="0">
                <a:solidFill>
                  <a:srgbClr val="FFFFFF"/>
                </a:solidFill>
                <a:latin typeface="Arial"/>
                <a:cs typeface="Arial"/>
              </a:rPr>
              <a:t>Tabital Pay customer app: prototype</a:t>
            </a:r>
          </a:p>
        </p:txBody>
      </p:sp>
      <p:sp>
        <p:nvSpPr>
          <p:cNvPr id="6" name="Subtitle 6"/>
          <p:cNvSpPr txBox="1"/>
          <p:nvPr/>
        </p:nvSpPr>
        <p:spPr>
          <a:xfrm>
            <a:off x="731520" y="406908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2200" dirty="0">
                <a:solidFill>
                  <a:srgbClr val="C7D2E5"/>
                </a:solidFill>
                <a:latin typeface="Arial"/>
                <a:cs typeface="Arial"/>
              </a:rPr>
              <a:t>Vault design, Android first</a:t>
            </a:r>
          </a:p>
        </p:txBody>
      </p:sp>
      <p:sp>
        <p:nvSpPr>
          <p:cNvPr id="7" name="Date 7"/>
          <p:cNvSpPr txBox="1"/>
          <p:nvPr/>
        </p:nvSpPr>
        <p:spPr>
          <a:xfrm>
            <a:off x="731520" y="461772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5B700"/>
                </a:solidFill>
                <a:latin typeface="Arial"/>
                <a:cs typeface="Arial"/>
              </a:rPr>
              <a:t>3 Oct 2026</a:t>
            </a:r>
          </a:p>
        </p:txBody>
      </p:sp>
      <p:sp>
        <p:nvSpPr>
          <p:cNvPr id="8" name="Note 8"/>
          <p:cNvSpPr txBox="1"/>
          <p:nvPr/>
        </p:nvSpPr>
        <p:spPr>
          <a:xfrm>
            <a:off x="731520" y="59893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200" dirty="0">
                <a:solidFill>
                  <a:srgbClr val="C7D2E5"/>
                </a:solidFill>
                <a:latin typeface="Arial"/>
                <a:cs typeface="Arial"/>
              </a:rPr>
              <a:t>12 screens · sample: GHS 4,000 phone on Pay in 4, 40% down, GHS 50 delivery</a:t>
            </a:r>
          </a:p>
        </p:txBody>
      </p:sp>
      <p:pic>
        <p:nvPicPr>
          <p:cNvPr id="9" name="Picture 9" descr="Welcome screen of the prototy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388" y="502920"/>
            <a:ext cx="321605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S1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Welcome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"Own it today. Pay later." Buy phones, laptops and appliances from partner shops: a down payment today, the rest monthly, interest-free when paid on time.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Create an account, sign in, or check who can apply.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2 / 14</a:t>
            </a:r>
          </a:p>
        </p:txBody>
      </p:sp>
      <p:pic>
        <p:nvPicPr>
          <p:cNvPr id="8" name="Picture 8" descr="S1 Welcome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S4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Home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A large next-payment card (GHS 800.00, due 3 Nov 2026) with plan progress, the limit available and the customer's plans.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A sticky pay bar keeps "Pay now" one tap away.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3 / 14</a:t>
            </a:r>
          </a:p>
        </p:txBody>
      </p:sp>
      <p:pic>
        <p:nvPicPr>
          <p:cNvPr id="8" name="Picture 8" descr="S4 Home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S4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Home when a payment is overdue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The card turns to an overdue payment of GHS 880.00: payment 2 plus a 10% late fee of GHS 80.00.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Paying now stops another late fee at 31 days; no new plan while a payment is overdue. The customer can also pay part of it.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4 / 14</a:t>
            </a:r>
          </a:p>
        </p:txBody>
      </p:sp>
      <p:pic>
        <p:nvPicPr>
          <p:cNvPr id="8" name="Picture 8" descr="S4 Home when a payment is overdue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S5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Shop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Search and browse phones, laptops, appliances and tablets, with the spending limit shown (GHS 1,000.00).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Each product shows what is due today, then the monthly payments.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5 / 14</a:t>
            </a:r>
          </a:p>
        </p:txBody>
      </p:sp>
      <p:pic>
        <p:nvPicPr>
          <p:cNvPr id="8" name="Picture 8" descr="S5 Shop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Product and plan picker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Choose Pay in 4, Pay in 3, Pay in 2 or Pay in full; the 6-month plan shows "Coming soon".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The full schedule and the total payable (GHS 4,050.00) update with the plan before Continue.</a:t>
            </a:r>
          </a:p>
        </p:txBody>
      </p:sp>
      <p:sp>
        <p:nvSpPr>
          <p:cNvPr id="7" name="Image note 7"/>
          <p:cNvSpPr txBox="1"/>
          <p:nvPr/>
        </p:nvSpPr>
        <p:spPr>
          <a:xfrm>
            <a:off x="548640" y="5715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100" dirty="0">
                <a:solidFill>
                  <a:srgbClr val="64748B"/>
                </a:solidFill>
                <a:latin typeface="Arial"/>
                <a:cs typeface="Arial"/>
              </a:rPr>
              <a:t>Left: screen as it opens. Right: scrolled to the end.</a:t>
            </a:r>
          </a:p>
        </p:txBody>
      </p:sp>
      <p:sp>
        <p:nvSpPr>
          <p:cNvPr id="8" name="Footer 8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6 / 14</a:t>
            </a:r>
          </a:p>
        </p:txBody>
      </p:sp>
      <p:pic>
        <p:nvPicPr>
          <p:cNvPr id="9" name="Picture 9" descr="S6 Product and plan picker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90" y="342900"/>
            <a:ext cx="3391930" cy="6172200"/>
          </a:xfrm>
          <a:prstGeom prst="rect">
            <a:avLst/>
          </a:prstGeom>
        </p:spPr>
      </p:pic>
      <p:pic>
        <p:nvPicPr>
          <p:cNvPr id="10" name="Picture 10" descr="S6 Product and plan picker screen (scrolled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0" y="342900"/>
            <a:ext cx="339193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S7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Review and pay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Payment 1 today: 40% down payment (GHS 1,600.00) plus GHS 50.00 delivery = GHS 1,650.00, then 3 × GHS 800.00. Total payable GHS 4,050.00.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Key facts on late fees, the 25% cap, deferment and disputes; Pay unlocks only after agreeing to the schedule, Terms and Privacy Policy.</a:t>
            </a:r>
          </a:p>
        </p:txBody>
      </p:sp>
      <p:sp>
        <p:nvSpPr>
          <p:cNvPr id="7" name="Image note 7"/>
          <p:cNvSpPr txBox="1"/>
          <p:nvPr/>
        </p:nvSpPr>
        <p:spPr>
          <a:xfrm>
            <a:off x="548640" y="5715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100" dirty="0">
                <a:solidFill>
                  <a:srgbClr val="64748B"/>
                </a:solidFill>
                <a:latin typeface="Arial"/>
                <a:cs typeface="Arial"/>
              </a:rPr>
              <a:t>Left: screen as it opens. Right: scrolled to the end.</a:t>
            </a:r>
          </a:p>
        </p:txBody>
      </p:sp>
      <p:sp>
        <p:nvSpPr>
          <p:cNvPr id="8" name="Footer 8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7 / 14</a:t>
            </a:r>
          </a:p>
        </p:txBody>
      </p:sp>
      <p:pic>
        <p:nvPicPr>
          <p:cNvPr id="9" name="Picture 9" descr="S7 Review and pay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90" y="342900"/>
            <a:ext cx="3391930" cy="6172200"/>
          </a:xfrm>
          <a:prstGeom prst="rect">
            <a:avLst/>
          </a:prstGeom>
        </p:spPr>
      </p:pic>
      <p:pic>
        <p:nvPicPr>
          <p:cNvPr id="10" name="Picture 10" descr="S7 Review and pay screen (scrolled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0" y="342900"/>
            <a:ext cx="339193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S10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Plan detail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What is paid and what is left, with the full schedule and the status of each payment.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Actions: move a payment back, receipts, and report a problem with the order.</a:t>
            </a:r>
          </a:p>
        </p:txBody>
      </p:sp>
      <p:sp>
        <p:nvSpPr>
          <p:cNvPr id="7" name="Image note 7"/>
          <p:cNvSpPr txBox="1"/>
          <p:nvPr/>
        </p:nvSpPr>
        <p:spPr>
          <a:xfrm>
            <a:off x="548640" y="5715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100" dirty="0">
                <a:solidFill>
                  <a:srgbClr val="64748B"/>
                </a:solidFill>
                <a:latin typeface="Arial"/>
                <a:cs typeface="Arial"/>
              </a:rPr>
              <a:t>Left: screen as it opens. Right: scrolled to the end.</a:t>
            </a:r>
          </a:p>
        </p:txBody>
      </p:sp>
      <p:sp>
        <p:nvSpPr>
          <p:cNvPr id="8" name="Footer 8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8 / 14</a:t>
            </a:r>
          </a:p>
        </p:txBody>
      </p:sp>
      <p:pic>
        <p:nvPicPr>
          <p:cNvPr id="9" name="Picture 9" descr="S10 Plan detail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90" y="342900"/>
            <a:ext cx="3391930" cy="6172200"/>
          </a:xfrm>
          <a:prstGeom prst="rect">
            <a:avLst/>
          </a:prstGeom>
        </p:spPr>
      </p:pic>
      <p:pic>
        <p:nvPicPr>
          <p:cNvPr id="10" name="Picture 10" descr="S10 Plan detail screen (scrolled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0" y="342900"/>
            <a:ext cx="339193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S11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Make a payment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Pay this payment, pay part of it, or pay off the plan with no extra charge for paying early.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Mobile Money or card, secured by Paystack; the payment shows once Paystack confirms it.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9 / 14</a:t>
            </a:r>
          </a:p>
        </p:txBody>
      </p:sp>
      <p:pic>
        <p:nvPicPr>
          <p:cNvPr id="8" name="Picture 8" descr="S11 Make a payment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S12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Move a payment back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A one-off fee of GHS 80.00 (10% of the GHS 800.00 left on payment 2) moves it and the later payments back 1 month. Total payable goes from GHS 4,050.00 to GHS 4,130.00.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It isn't a late payment and doesn't lower the limit; allowed once per plan.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10 / 14</a:t>
            </a:r>
          </a:p>
        </p:txBody>
      </p:sp>
      <p:pic>
        <p:nvPicPr>
          <p:cNvPr id="8" name="Picture 8" descr="S12 Move a payment back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S9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Payment result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After Paystack: "Down payment received", GHS 1,650.00 for order ORD-20871, now waiting for approval.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Next steps: Tabital approves, Accra Phone Hub delivers, payment 2 due 3 Nov 2026.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11 / 14</a:t>
            </a:r>
          </a:p>
        </p:txBody>
      </p:sp>
      <p:pic>
        <p:nvPicPr>
          <p:cNvPr id="8" name="Picture 8" descr="S9 Payment result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S13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Verify your identity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Smile ID checks the Ghana Card number and a selfie with a liveness check; it takes about 2 minutes.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Photos stay with Smile ID and Tabital keeps the result. Consent checkbox; 3 attempts.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12 / 14</a:t>
            </a:r>
          </a:p>
        </p:txBody>
      </p:sp>
      <p:pic>
        <p:nvPicPr>
          <p:cNvPr id="8" name="Picture 8" descr="S13 Verify your identity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pill 3"/>
          <p:cNvSpPr/>
          <p:nvPr/>
        </p:nvSpPr>
        <p:spPr>
          <a:xfrm>
            <a:off x="548640" y="685800"/>
            <a:ext cx="868680" cy="420624"/>
          </a:xfrm>
          <a:prstGeom prst="roundRect">
            <a:avLst>
              <a:gd name="adj" fmla="val 22000"/>
            </a:avLst>
          </a:prstGeom>
          <a:solidFill>
            <a:srgbClr val="0216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creen code 4"/>
          <p:cNvSpPr txBox="1"/>
          <p:nvPr/>
        </p:nvSpPr>
        <p:spPr>
          <a:xfrm>
            <a:off x="548640" y="68580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5B700"/>
                </a:solidFill>
                <a:latin typeface="Arial"/>
                <a:cs typeface="Arial"/>
              </a:rPr>
              <a:t>S14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548640" y="1325880"/>
            <a:ext cx="539496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GB" sz="3400" b="1" dirty="0">
                <a:solidFill>
                  <a:srgbClr val="02163F"/>
                </a:solidFill>
                <a:latin typeface="Arial"/>
                <a:cs typeface="Arial"/>
              </a:rPr>
              <a:t>Your limit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548640" y="2606040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GHS 1,000.00 available of a GHS 5,000.00 limit, Medium tier.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rgbClr val="475569"/>
                </a:solidFill>
                <a:latin typeface="Arial"/>
                <a:cs typeface="Arial"/>
              </a:rPr>
              <a:t>Explains how it grows with plans paid on time, drops with late payments, and pauses new plans while a payment is overdue.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008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Tabital Pay customer app: prototype</a:t>
            </a:r>
            <a:r>
              <a:rPr lang="en-GB" sz="1000" dirty="0">
                <a:solidFill>
                  <a:srgbClr val="64748B"/>
                </a:solidFill>
                <a:latin typeface="Arial"/>
                <a:cs typeface="Arial"/>
              </a:rPr>
              <a:t>   13 / 14</a:t>
            </a:r>
          </a:p>
        </p:txBody>
      </p:sp>
      <p:pic>
        <p:nvPicPr>
          <p:cNvPr id="8" name="Picture 8" descr="S14 Your limit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07" y="274320"/>
            <a:ext cx="346730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mark 3"/>
          <p:cNvSpPr/>
          <p:nvPr/>
        </p:nvSpPr>
        <p:spPr>
          <a:xfrm>
            <a:off x="731520" y="73152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Logo letter 4"/>
          <p:cNvSpPr txBox="1"/>
          <p:nvPr/>
        </p:nvSpPr>
        <p:spPr>
          <a:xfrm>
            <a:off x="731520" y="7315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2890" b="1" dirty="0">
                <a:solidFill>
                  <a:srgbClr val="02163F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4000" b="1" dirty="0">
                <a:solidFill>
                  <a:srgbClr val="FFFFFF"/>
                </a:solidFill>
                <a:latin typeface="Arial"/>
                <a:cs typeface="Arial"/>
              </a:rPr>
              <a:t>Own It Today. Pay Later.</a:t>
            </a:r>
          </a:p>
        </p:txBody>
      </p:sp>
      <p:sp>
        <p:nvSpPr>
          <p:cNvPr id="6" name="Body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2000" dirty="0">
                <a:solidFill>
                  <a:srgbClr val="C7D2E5"/>
                </a:solidFill>
                <a:latin typeface="Arial"/>
                <a:cs typeface="Arial"/>
              </a:rPr>
              <a:t>Questions and feedback on the prototype are welcome.</a:t>
            </a:r>
          </a:p>
        </p:txBody>
      </p:sp>
      <p:sp>
        <p:nvSpPr>
          <p:cNvPr id="7" name="Contact 7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2600" b="1" dirty="0">
                <a:solidFill>
                  <a:srgbClr val="F5B700"/>
                </a:solidFill>
                <a:latin typeface="Arial"/>
                <a:cs typeface="Arial"/>
              </a:rPr>
              <a:t>info@tabitalpay.com  ·  tabitalpay.com</a:t>
            </a:r>
          </a:p>
        </p:txBody>
      </p:sp>
      <p:sp>
        <p:nvSpPr>
          <p:cNvPr id="8" name="Footer 8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200" dirty="0">
                <a:solidFill>
                  <a:srgbClr val="C7D2E5"/>
                </a:solidFill>
                <a:latin typeface="Arial"/>
                <a:cs typeface="Arial"/>
              </a:rPr>
              <a:t>Tabital 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bital Vault">
  <a:themeElements>
    <a:clrScheme name="Tabital Vault">
      <a:dk1>
        <a:srgbClr val="02163F"/>
      </a:dk1>
      <a:lt1>
        <a:srgbClr val="FFFFFF"/>
      </a:lt1>
      <a:dk2>
        <a:srgbClr val="0A2D73"/>
      </a:dk2>
      <a:lt2>
        <a:srgbClr val="F8F9FC"/>
      </a:lt2>
      <a:accent1>
        <a:srgbClr val="F5B700"/>
      </a:accent1>
      <a:accent2>
        <a:srgbClr val="0A2D73"/>
      </a:accent2>
      <a:accent3>
        <a:srgbClr val="475569"/>
      </a:accent3>
      <a:accent4>
        <a:srgbClr val="15803D"/>
      </a:accent4>
      <a:accent5>
        <a:srgbClr val="B42318"/>
      </a:accent5>
      <a:accent6>
        <a:srgbClr val="C7D2E5"/>
      </a:accent6>
      <a:hlink>
        <a:srgbClr val="0A2D73"/>
      </a:hlink>
      <a:folHlink>
        <a:srgbClr val="475569"/>
      </a:folHlink>
    </a:clrScheme>
    <a:fontScheme name="Tabi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14</Slides>
  <Company>Tabital Pay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Tabital Pay customer app: prototype</dc:title>
  <dc:creator>Tabital Pay</dc:creator>
  <dcterms:created xsi:type="dcterms:W3CDTF">2026-10-03T00:00:00Z</dcterms:created>
  <dcterms:modified xsi:type="dcterms:W3CDTF">2026-10-03T00:00:00Z</dcterms:modified>
</cp:coreProperties>
</file>